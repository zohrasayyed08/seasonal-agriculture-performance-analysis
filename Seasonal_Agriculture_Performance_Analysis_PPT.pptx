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8"/>
  </p:notesMasterIdLst>
  <p:handoutMasterIdLst>
    <p:handoutMasterId r:id="rId18"/>
  </p:handoutMasterIdLst>
  <p:sldIdLst>
    <p:sldId id="338" r:id="rId3"/>
    <p:sldId id="327" r:id="rId4"/>
    <p:sldId id="315" r:id="rId5"/>
    <p:sldId id="329" r:id="rId6"/>
    <p:sldId id="302" r:id="rId7"/>
    <p:sldId id="339" r:id="rId9"/>
    <p:sldId id="340" r:id="rId10"/>
    <p:sldId id="344" r:id="rId11"/>
    <p:sldId id="345" r:id="rId12"/>
    <p:sldId id="346" r:id="rId13"/>
    <p:sldId id="341" r:id="rId14"/>
    <p:sldId id="342" r:id="rId15"/>
    <p:sldId id="343" r:id="rId16"/>
    <p:sldId id="304"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26"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6E25E649-3F16-4E02-A733-19D2CDBF48F0}"/>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showGuides="1">
      <p:cViewPr varScale="1">
        <p:scale>
          <a:sx n="82" d="100"/>
          <a:sy n="82" d="100"/>
        </p:scale>
        <p:origin x="624" y="72"/>
      </p:cViewPr>
      <p:guideLst>
        <p:guide orient="horz" pos="1968"/>
        <p:guide pos="426"/>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4" Type="http://schemas.openxmlformats.org/officeDocument/2006/relationships/customXml" Target="../customXml/item3.xml"/><Relationship Id="rId23" Type="http://schemas.openxmlformats.org/officeDocument/2006/relationships/customXml" Target="../customXml/item2.xml"/><Relationship Id="rId22" Type="http://schemas.openxmlformats.org/officeDocument/2006/relationships/customXml" Target="../customXml/item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handoutMaster" Target="handoutMasters/handoutMaster1.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fld>
            <a:endParaRPr lang="en-US" dirty="0"/>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endParaRPr lang="en-US" noProof="0"/>
          </a:p>
          <a:p>
            <a:pPr lvl="1"/>
            <a:r>
              <a:rPr lang="en-US" noProof="0"/>
              <a:t>Second level</a:t>
            </a:r>
            <a:endParaRPr lang="en-US" noProof="0"/>
          </a:p>
          <a:p>
            <a:pPr lvl="2"/>
            <a:r>
              <a:rPr lang="en-US" noProof="0"/>
              <a:t>Third level</a:t>
            </a:r>
            <a:endParaRPr lang="en-US" noProof="0"/>
          </a:p>
          <a:p>
            <a:pPr lvl="3"/>
            <a:r>
              <a:rPr lang="en-US" noProof="0"/>
              <a:t>Fourth level</a:t>
            </a:r>
            <a:endParaRPr lang="en-US" noProof="0"/>
          </a:p>
          <a:p>
            <a:pPr lvl="4"/>
            <a:r>
              <a:rPr lang="en-US" noProof="0"/>
              <a:t>Fifth level</a:t>
            </a:r>
            <a:endParaRPr lang="en-US" noProof="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fld>
            <a:endParaRPr lang="en-US" noProof="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fld>
            <a:endParaRPr lang="en-US" dirty="0"/>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200" indent="0">
              <a:buNone/>
              <a:defRPr sz="1400"/>
            </a:lvl2pPr>
            <a:lvl3pPr marL="914400" indent="0">
              <a:buNone/>
              <a:defRPr sz="1200"/>
            </a:lvl3pPr>
            <a:lvl4pPr marL="1370965" indent="0">
              <a:buNone/>
              <a:defRPr sz="1000"/>
            </a:lvl4pPr>
            <a:lvl5pPr marL="1828165" indent="0">
              <a:buNone/>
              <a:defRPr sz="1000"/>
            </a:lvl5pPr>
            <a:lvl6pPr marL="2285365" indent="0">
              <a:buNone/>
              <a:defRPr sz="1000"/>
            </a:lvl6pPr>
            <a:lvl7pPr marL="2742565" indent="0">
              <a:buNone/>
              <a:defRPr sz="1000"/>
            </a:lvl7pPr>
            <a:lvl8pPr marL="3199130" indent="0">
              <a:buNone/>
              <a:defRPr sz="1000"/>
            </a:lvl8pPr>
            <a:lvl9pPr marL="365633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42A54C80-263E-416B-A8E0-580EDEADCBDC}"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fld>
            <a:endParaRPr lang="en-US" dirty="0"/>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fld>
            <a:endParaRPr lang="en-US" dirty="0"/>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fld>
            <a:endParaRPr lang="en-US" dirty="0"/>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endParaRPr lang="en-US"/>
          </a:p>
          <a:p>
            <a:pPr lvl="1"/>
            <a:r>
              <a:rPr lang="en-US"/>
              <a:t>Second level</a:t>
            </a:r>
            <a:endParaRPr lang="en-US"/>
          </a:p>
        </p:txBody>
      </p:sp>
      <p:sp>
        <p:nvSpPr>
          <p:cNvPr id="15" name="Hexagon 14"/>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endParaRPr lang="en-US"/>
          </a:p>
        </p:txBody>
      </p:sp>
      <p:sp>
        <p:nvSpPr>
          <p:cNvPr id="8"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endParaRPr lang="en-US"/>
          </a:p>
        </p:txBody>
      </p:sp>
      <p:sp>
        <p:nvSpPr>
          <p:cNvPr id="19" name="Rectangle 18"/>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24" name="Text Placeholder 22"/>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27" name="Text Placeholder 22"/>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28" name="Text Placeholder 22"/>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29" name="Text Placeholder 22"/>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30" name="Text Placeholder 22"/>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31" name="Text Placeholder 22"/>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32" name="Text Placeholder 22"/>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33" name="Text Placeholder 22"/>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34" name="Text Placeholder 22"/>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37" name="Picture Placeholder 36"/>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showMasterSp="0"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endParaRPr lang="en-US" dirty="0"/>
          </a:p>
        </p:txBody>
      </p:sp>
      <p:sp>
        <p:nvSpPr>
          <p:cNvPr id="6" name="Title 1"/>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2" Type="http://schemas.openxmlformats.org/officeDocument/2006/relationships/theme" Target="../theme/theme1.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fld>
            <a:endParaRPr lang="en-US" dirty="0"/>
          </a:p>
        </p:txBody>
      </p:sp>
      <p:sp>
        <p:nvSpPr>
          <p:cNvPr id="18" name="Date Placeholder 3"/>
          <p:cNvSpPr txBox="1"/>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fld>
            <a:endParaRPr lang="en-US" sz="1100" dirty="0">
              <a:solidFill>
                <a:schemeClr val="accent2"/>
              </a:solidFill>
            </a:endParaRPr>
          </a:p>
        </p:txBody>
      </p:sp>
      <p:sp>
        <p:nvSpPr>
          <p:cNvPr id="29" name="Footer Placeholder 4"/>
          <p:cNvSpPr txBox="1"/>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endParaRPr lang="en-US" sz="1100" b="1" dirty="0">
              <a:solidFill>
                <a:schemeClr val="accent2"/>
              </a:solidFill>
            </a:endParaRPr>
          </a:p>
        </p:txBody>
      </p:sp>
      <p:sp>
        <p:nvSpPr>
          <p:cNvPr id="30" name="Slide Number Placeholder 5"/>
          <p:cNvSpPr txBox="1"/>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fld>
            <a:endParaRPr lang="en-US" sz="1100" dirty="0">
              <a:solidFill>
                <a:schemeClr val="accent4"/>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panose="05040102010807070707"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1.jpeg"/><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3.png"/><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9.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8.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6.png"/><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7.png"/><Relationship Id="rId1" Type="http://schemas.openxmlformats.org/officeDocument/2006/relationships/image" Target="../media/image1.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8.png"/><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9.png"/><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10.png"/><Relationship Id="rId1" Type="http://schemas.openxmlformats.org/officeDocument/2006/relationships/image" Target="../media/image1.jpe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9.xml"/><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slide" Target="slide12.xml"/><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11.png"/><Relationship Id="rId1" Type="http://schemas.openxmlformats.org/officeDocument/2006/relationships/image" Target="../media/image1.jpe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0.xml"/><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2247900" y="3945255"/>
            <a:ext cx="2863215" cy="530225"/>
          </a:xfrm>
        </p:spPr>
        <p:txBody>
          <a:bodyPr vert="horz" lIns="91440" tIns="45720" rIns="91440" bIns="45720" rtlCol="0" anchor="t">
            <a:normAutofit/>
          </a:bodyPr>
          <a:lstStyle/>
          <a:p>
            <a:pPr algn="r"/>
            <a:r>
              <a:rPr lang="en-US" altLang="en-IN" b="0" dirty="0">
                <a:solidFill>
                  <a:schemeClr val="tx1"/>
                </a:solidFill>
              </a:rPr>
              <a:t>Zohra Sayyed Abed Ali </a:t>
            </a:r>
            <a:endParaRPr lang="en-US" altLang="en-IN" b="0" dirty="0">
              <a:solidFill>
                <a:schemeClr val="tx1"/>
              </a:solidFill>
            </a:endParaRPr>
          </a:p>
          <a:p>
            <a:pPr algn="r"/>
            <a:endParaRPr lang="en-US" altLang="en-IN" b="0" dirty="0">
              <a:solidFill>
                <a:schemeClr val="tx1"/>
              </a:solidFill>
            </a:endParaRPr>
          </a:p>
        </p:txBody>
      </p:sp>
      <p:sp>
        <p:nvSpPr>
          <p:cNvPr id="4" name="Title 3"/>
          <p:cNvSpPr>
            <a:spLocks noGrp="1"/>
          </p:cNvSpPr>
          <p:nvPr>
            <p:ph type="title"/>
          </p:nvPr>
        </p:nvSpPr>
        <p:spPr>
          <a:xfrm>
            <a:off x="678364" y="2844750"/>
            <a:ext cx="4998720" cy="743448"/>
          </a:xfrm>
        </p:spPr>
        <p:txBody>
          <a:bodyPr>
            <a:normAutofit/>
          </a:bodyPr>
          <a:lstStyle/>
          <a:p>
            <a:r>
              <a:rPr lang="en-GB" sz="3200" dirty="0"/>
              <a:t>Seasonal Agriculture Performance Analysis</a:t>
            </a:r>
            <a:endParaRPr lang="en-IN" sz="3200" dirty="0"/>
          </a:p>
        </p:txBody>
      </p:sp>
      <p:sp>
        <p:nvSpPr>
          <p:cNvPr id="15" name="Text Placeholder 1"/>
          <p:cNvSpPr txBox="1"/>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panose="05040102010807070707"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3" name="TextBox 2"/>
          <p:cNvSpPr txBox="1"/>
          <p:nvPr/>
        </p:nvSpPr>
        <p:spPr>
          <a:xfrm>
            <a:off x="957580" y="4576445"/>
            <a:ext cx="5443855" cy="368300"/>
          </a:xfrm>
          <a:prstGeom prst="rect">
            <a:avLst/>
          </a:prstGeom>
          <a:noFill/>
        </p:spPr>
        <p:txBody>
          <a:bodyPr wrap="square" rtlCol="0">
            <a:spAutoFit/>
          </a:bodyPr>
          <a:lstStyle/>
          <a:p>
            <a:r>
              <a:rPr lang="en-US" altLang="en-US" b="1" dirty="0"/>
              <a:t>ID: STU6949018513bee1766392197</a:t>
            </a:r>
            <a:endParaRPr lang="en-US" altLang="en-US" b="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p:cNvPicPr>
            <a:picLocks noChangeAspect="1"/>
          </p:cNvPicPr>
          <p:nvPr/>
        </p:nvPicPr>
        <p:blipFill>
          <a:blip r:embed="rId1"/>
          <a:stretch>
            <a:fillRect/>
          </a:stretch>
        </p:blipFill>
        <p:spPr>
          <a:xfrm>
            <a:off x="7995684" y="2930834"/>
            <a:ext cx="2760758" cy="3264409"/>
          </a:xfrm>
          <a:prstGeom prst="rect">
            <a:avLst/>
          </a:prstGeom>
        </p:spPr>
      </p:pic>
      <p:pic>
        <p:nvPicPr>
          <p:cNvPr id="6" name="Picture 5"/>
          <p:cNvPicPr>
            <a:picLocks noChangeAspect="1"/>
          </p:cNvPicPr>
          <p:nvPr/>
        </p:nvPicPr>
        <p:blipFill rotWithShape="1">
          <a:blip r:embed="rId2"/>
          <a:srcRect t="96181"/>
          <a:stretch>
            <a:fillRect/>
          </a:stretch>
        </p:blipFill>
        <p:spPr>
          <a:xfrm>
            <a:off x="675957" y="6471920"/>
            <a:ext cx="2143125" cy="19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1084580" y="728980"/>
            <a:ext cx="6262370" cy="589915"/>
          </a:xfrm>
        </p:spPr>
        <p:txBody>
          <a:bodyPr>
            <a:normAutofit fontScale="90000"/>
          </a:bodyPr>
          <a:lstStyle/>
          <a:p>
            <a:r>
              <a:rPr lang="en-GB" sz="5335" dirty="0"/>
              <a:t>Project Description</a:t>
            </a:r>
            <a:br>
              <a:rPr lang="en-GB" sz="5335" dirty="0"/>
            </a:br>
            <a:endParaRPr lang="en-IN" sz="5335" b="0" dirty="0"/>
          </a:p>
        </p:txBody>
      </p:sp>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pic>
        <p:nvPicPr>
          <p:cNvPr id="6" name="Picture 5"/>
          <p:cNvPicPr>
            <a:picLocks noChangeAspect="1"/>
          </p:cNvPicPr>
          <p:nvPr/>
        </p:nvPicPr>
        <p:blipFill>
          <a:blip r:embed="rId2"/>
          <a:stretch>
            <a:fillRect/>
          </a:stretch>
        </p:blipFill>
        <p:spPr>
          <a:xfrm>
            <a:off x="467359" y="6410461"/>
            <a:ext cx="3706253" cy="296092"/>
          </a:xfrm>
          <a:prstGeom prst="rect">
            <a:avLst/>
          </a:prstGeom>
        </p:spPr>
      </p:pic>
      <p:sp>
        <p:nvSpPr>
          <p:cNvPr id="2" name="Text Box 1"/>
          <p:cNvSpPr txBox="1"/>
          <p:nvPr/>
        </p:nvSpPr>
        <p:spPr>
          <a:xfrm>
            <a:off x="674370" y="1993265"/>
            <a:ext cx="7774305" cy="3658235"/>
          </a:xfrm>
          <a:prstGeom prst="rect">
            <a:avLst/>
          </a:prstGeom>
          <a:noFill/>
        </p:spPr>
        <p:txBody>
          <a:bodyPr wrap="square" lIns="269875" tIns="136525" rIns="269875" bIns="136525" rtlCol="0">
            <a:spAutoFit/>
          </a:bodyPr>
          <a:p>
            <a:pPr algn="l"/>
            <a:r>
              <a:rPr lang="en-GB" sz="2000" dirty="0">
                <a:sym typeface="+mn-ea"/>
              </a:rPr>
              <a:t>This project analyzes a seasonal agriculture performance dataset of 4,000 farm records across Kharif, Rabi, and Zaid seasons in India. Using Python (Pandas, Matplotlib, Seaborn), the dataset was cleaned, explored, and analyzed through univariate, bivariate, and multivariate techniques to uncover how rainfall, irrigation method, and other environmental factors influence crop yield, profitability, and disease/pest risk across seasons. The goal is to identify actionable, evidence-based seasonal patterns that can support better agricultural planning and decision-making.</a:t>
            </a:r>
            <a:br>
              <a:rPr lang="en-GB" sz="2000" dirty="0">
                <a:sym typeface="+mn-ea"/>
              </a:rPr>
            </a:br>
            <a:endParaRPr lang="en-US" sz="20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721359" y="1991360"/>
            <a:ext cx="7904481" cy="3990023"/>
          </a:xfrm>
        </p:spPr>
        <p:txBody>
          <a:bodyPr>
            <a:normAutofit/>
          </a:bodyPr>
          <a:lstStyle/>
          <a:p>
            <a:pPr algn="just">
              <a:lnSpc>
                <a:spcPct val="150000"/>
              </a:lnSpc>
            </a:pPr>
            <a:r>
              <a:rPr sz="2000"/>
              <a:t>Farmers &amp; Agricultural Cooperatives — to plan crop and irrigation choices season-wise</a:t>
            </a:r>
            <a:endParaRPr lang="en-IN" sz="3600" dirty="0"/>
          </a:p>
          <a:p>
            <a:r>
              <a:rPr sz="2000"/>
              <a:t>Agricultural Policy Makers — to design seasonally-targeted support and subsidy programs</a:t>
            </a:r>
            <a:endParaRPr sz="2000"/>
          </a:p>
          <a:p>
            <a:r>
              <a:rPr sz="2000"/>
              <a:t>Agri-Finance &amp; Insurance Providers — to assess seasonal risk before lending or insuring</a:t>
            </a:r>
            <a:endParaRPr sz="2000"/>
          </a:p>
          <a:p>
            <a:r>
              <a:rPr sz="2000"/>
              <a:t>Agricultural Researchers &amp; Universities — to study seasonal crop performance patterns</a:t>
            </a:r>
            <a:endParaRPr sz="2000"/>
          </a:p>
          <a:p>
            <a:r>
              <a:rPr sz="2000"/>
              <a:t>Irrigation Equipment Suppliers — to recommend the right irrigation method per season</a:t>
            </a:r>
            <a:endParaRPr sz="2000"/>
          </a:p>
        </p:txBody>
      </p:sp>
      <p:sp>
        <p:nvSpPr>
          <p:cNvPr id="4" name="Title 3"/>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p:cNvPicPr>
            <a:picLocks noChangeAspect="1"/>
          </p:cNvPicPr>
          <p:nvPr/>
        </p:nvPicPr>
        <p:blipFill>
          <a:blip r:embed="rId1"/>
          <a:stretch>
            <a:fillRect/>
          </a:stretch>
        </p:blipFill>
        <p:spPr>
          <a:xfrm>
            <a:off x="721359" y="6176804"/>
            <a:ext cx="2181225" cy="4857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1"/>
          <a:stretch>
            <a:fillRect/>
          </a:stretch>
        </p:blipFill>
        <p:spPr>
          <a:xfrm>
            <a:off x="467359" y="6410461"/>
            <a:ext cx="3706253" cy="296092"/>
          </a:xfrm>
          <a:prstGeom prst="rect">
            <a:avLst/>
          </a:prstGeom>
        </p:spPr>
      </p:pic>
      <p:pic>
        <p:nvPicPr>
          <p:cNvPr id="2" name="Picture 1"/>
          <p:cNvPicPr>
            <a:picLocks noChangeAspect="1"/>
          </p:cNvPicPr>
          <p:nvPr/>
        </p:nvPicPr>
        <p:blipFill>
          <a:blip r:embed="rId2"/>
          <a:stretch>
            <a:fillRect/>
          </a:stretch>
        </p:blipFill>
        <p:spPr>
          <a:xfrm flipH="1">
            <a:off x="50800" y="3820160"/>
            <a:ext cx="1727200" cy="3010024"/>
          </a:xfrm>
          <a:prstGeom prst="rect">
            <a:avLst/>
          </a:prstGeom>
        </p:spPr>
      </p:pic>
      <p:sp>
        <p:nvSpPr>
          <p:cNvPr id="7" name="Text Placeholder 6"/>
          <p:cNvSpPr>
            <a:spLocks noGrp="1"/>
          </p:cNvSpPr>
          <p:nvPr>
            <p:ph type="body" sz="quarter" idx="12"/>
          </p:nvPr>
        </p:nvSpPr>
        <p:spPr>
          <a:xfrm>
            <a:off x="390618" y="1432560"/>
            <a:ext cx="9027702" cy="5243448"/>
          </a:xfrm>
        </p:spPr>
        <p:txBody>
          <a:bodyPr/>
          <a:lstStyle/>
          <a:p>
            <a:pPr>
              <a:lnSpc>
                <a:spcPct val="150000"/>
              </a:lnSpc>
            </a:pPr>
            <a:r>
              <a:rPr sz="2000"/>
              <a:t>Python — core programming language for the analysis</a:t>
            </a:r>
            <a:endParaRPr lang="en-IN" dirty="0"/>
          </a:p>
          <a:p>
            <a:r>
              <a:rPr sz="2000"/>
              <a:t>Pandas &amp; NumPy — data loading, cleaning, and manipulation</a:t>
            </a:r>
            <a:endParaRPr sz="2000"/>
          </a:p>
          <a:p>
            <a:r>
              <a:rPr sz="2000"/>
              <a:t>Matplotlib &amp; Seaborn — data visualization (bar charts, histograms, heatmaps, scatter plots, box plots)</a:t>
            </a:r>
            <a:endParaRPr sz="2000"/>
          </a:p>
          <a:p>
            <a:r>
              <a:rPr sz="2000"/>
              <a:t>Jupyter Notebook / Google Colab — development environment for the analysis</a:t>
            </a:r>
            <a:endParaRPr sz="2000"/>
          </a:p>
          <a:p>
            <a:r>
              <a:rPr sz="2000"/>
              <a:t>GitHub — version control and project submission</a:t>
            </a:r>
            <a:endParaRPr sz="2000"/>
          </a:p>
        </p:txBody>
      </p:sp>
      <p:sp>
        <p:nvSpPr>
          <p:cNvPr id="9" name="Title 8"/>
          <p:cNvSpPr>
            <a:spLocks noGrp="1"/>
          </p:cNvSpPr>
          <p:nvPr>
            <p:ph type="title"/>
          </p:nvPr>
        </p:nvSpPr>
        <p:spPr>
          <a:xfrm>
            <a:off x="660399" y="430567"/>
            <a:ext cx="5306291" cy="847817"/>
          </a:xfrm>
        </p:spPr>
        <p:txBody>
          <a:bodyPr>
            <a:normAutofit/>
          </a:bodyPr>
          <a:lstStyle/>
          <a:p>
            <a:r>
              <a:rPr lang="en-US" dirty="0"/>
              <a:t>Technology Used</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4" name="Picture 23" descr="1_yield_by_season.png"/>
          <p:cNvPicPr>
            <a:picLocks noChangeAspect="1"/>
          </p:cNvPicPr>
          <p:nvPr/>
        </p:nvPicPr>
        <p:blipFill>
          <a:blip r:embed="rId2"/>
          <a:stretch>
            <a:fillRect/>
          </a:stretch>
        </p:blipFill>
        <p:spPr>
          <a:xfrm>
            <a:off x="2824480" y="1417320"/>
            <a:ext cx="6543039" cy="4206240"/>
          </a:xfrm>
          <a:prstGeom prst="rect">
            <a:avLst/>
          </a:prstGeom>
        </p:spPr>
      </p:pic>
      <p:sp>
        <p:nvSpPr>
          <p:cNvPr id="25" name="TextBox 24"/>
          <p:cNvSpPr txBox="1"/>
          <p:nvPr/>
        </p:nvSpPr>
        <p:spPr>
          <a:xfrm>
            <a:off x="548640" y="5760720"/>
            <a:ext cx="11094720" cy="822960"/>
          </a:xfrm>
          <a:prstGeom prst="rect">
            <a:avLst/>
          </a:prstGeom>
          <a:noFill/>
        </p:spPr>
        <p:txBody>
          <a:bodyPr wrap="square">
            <a:spAutoFit/>
          </a:bodyPr>
          <a:lstStyle/>
          <a:p>
            <a:pPr algn="ctr"/>
            <a:r>
              <a:rPr sz="1400" i="1">
                <a:solidFill>
                  <a:srgbClr val="333333"/>
                </a:solidFill>
              </a:rPr>
              <a:t>Kharif delivers the highest average yield (5.63 t/ha), followed by Rabi (5.04 t/ha) and Zaid (4.64 t/ha).</a:t>
            </a:r>
            <a:endParaRPr sz="1400" i="1">
              <a:solidFill>
                <a:srgbClr val="333333"/>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2_rainfall_profit_by_season.png"/>
          <p:cNvPicPr>
            <a:picLocks noChangeAspect="1"/>
          </p:cNvPicPr>
          <p:nvPr/>
        </p:nvPicPr>
        <p:blipFill>
          <a:blip r:embed="rId2"/>
          <a:stretch>
            <a:fillRect/>
          </a:stretch>
        </p:blipFill>
        <p:spPr>
          <a:xfrm>
            <a:off x="2758440" y="1417320"/>
            <a:ext cx="6675120" cy="3003804"/>
          </a:xfrm>
          <a:prstGeom prst="rect">
            <a:avLst/>
          </a:prstGeom>
        </p:spPr>
      </p:pic>
      <p:sp>
        <p:nvSpPr>
          <p:cNvPr id="32" name="TextBox 31"/>
          <p:cNvSpPr txBox="1"/>
          <p:nvPr/>
        </p:nvSpPr>
        <p:spPr>
          <a:xfrm>
            <a:off x="548640" y="4558284"/>
            <a:ext cx="11094720" cy="822960"/>
          </a:xfrm>
          <a:prstGeom prst="rect">
            <a:avLst/>
          </a:prstGeom>
          <a:noFill/>
        </p:spPr>
        <p:txBody>
          <a:bodyPr wrap="square">
            <a:spAutoFit/>
          </a:bodyPr>
          <a:lstStyle/>
          <a:p>
            <a:pPr algn="ctr"/>
            <a:r>
              <a:rPr sz="1400" i="1">
                <a:solidFill>
                  <a:srgbClr val="333333"/>
                </a:solidFill>
              </a:rPr>
              <a:t>Kharif is the most profitable season (avg profit ₹1.79 lakh/farm); Zaid runs an average LOSS of ₹24,805/farm, with 64.5% of Zaid farms unprofitable.</a:t>
            </a:r>
            <a:endParaRPr sz="1400" i="1">
              <a:solidFill>
                <a:srgbClr val="333333"/>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3_correlation_heatmap.png"/>
          <p:cNvPicPr>
            <a:picLocks noChangeAspect="1"/>
          </p:cNvPicPr>
          <p:nvPr/>
        </p:nvPicPr>
        <p:blipFill>
          <a:blip r:embed="rId2"/>
          <a:stretch>
            <a:fillRect/>
          </a:stretch>
        </p:blipFill>
        <p:spPr>
          <a:xfrm>
            <a:off x="3507545" y="1417320"/>
            <a:ext cx="5176910" cy="4206240"/>
          </a:xfrm>
          <a:prstGeom prst="rect">
            <a:avLst/>
          </a:prstGeom>
        </p:spPr>
      </p:pic>
      <p:sp>
        <p:nvSpPr>
          <p:cNvPr id="32" name="TextBox 31"/>
          <p:cNvSpPr txBox="1"/>
          <p:nvPr/>
        </p:nvSpPr>
        <p:spPr>
          <a:xfrm>
            <a:off x="548640" y="5760720"/>
            <a:ext cx="11094720" cy="822960"/>
          </a:xfrm>
          <a:prstGeom prst="rect">
            <a:avLst/>
          </a:prstGeom>
          <a:noFill/>
        </p:spPr>
        <p:txBody>
          <a:bodyPr wrap="square">
            <a:spAutoFit/>
          </a:bodyPr>
          <a:lstStyle/>
          <a:p>
            <a:pPr algn="ctr"/>
            <a:r>
              <a:rPr sz="1400" i="1">
                <a:solidFill>
                  <a:srgbClr val="333333"/>
                </a:solidFill>
              </a:rPr>
              <a:t>Rainfall correlates strongly with Disease/Pest Risk (r=0.62), while Yield is nearly independent of Rainfall (r=0.03) — irrigation matters more than rain.</a:t>
            </a:r>
            <a:endParaRPr sz="1400" i="1">
              <a:solidFill>
                <a:srgbClr val="333333"/>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4_yield_by_season_irrigation.png"/>
          <p:cNvPicPr>
            <a:picLocks noChangeAspect="1"/>
          </p:cNvPicPr>
          <p:nvPr/>
        </p:nvPicPr>
        <p:blipFill>
          <a:blip r:embed="rId2"/>
          <a:stretch>
            <a:fillRect/>
          </a:stretch>
        </p:blipFill>
        <p:spPr>
          <a:xfrm>
            <a:off x="2758440" y="1417320"/>
            <a:ext cx="6675120" cy="3754755"/>
          </a:xfrm>
          <a:prstGeom prst="rect">
            <a:avLst/>
          </a:prstGeom>
        </p:spPr>
      </p:pic>
      <p:sp>
        <p:nvSpPr>
          <p:cNvPr id="32" name="TextBox 31"/>
          <p:cNvSpPr txBox="1"/>
          <p:nvPr/>
        </p:nvSpPr>
        <p:spPr>
          <a:xfrm>
            <a:off x="548640" y="5309235"/>
            <a:ext cx="11094720" cy="822960"/>
          </a:xfrm>
          <a:prstGeom prst="rect">
            <a:avLst/>
          </a:prstGeom>
          <a:noFill/>
        </p:spPr>
        <p:txBody>
          <a:bodyPr wrap="square">
            <a:spAutoFit/>
          </a:bodyPr>
          <a:lstStyle/>
          <a:p>
            <a:pPr algn="ctr"/>
            <a:r>
              <a:rPr sz="1400" i="1">
                <a:solidFill>
                  <a:srgbClr val="333333"/>
                </a:solidFill>
              </a:rPr>
              <a:t>Drip irrigation performs best in Kharif &amp; Rabi, but Sprinkler irrigation outperforms it in the hot, low-rainfall Zaid season.</a:t>
            </a:r>
            <a:endParaRPr sz="1400" i="1">
              <a:solidFill>
                <a:srgbClr val="333333"/>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5_disease_risk_by_season.png"/>
          <p:cNvPicPr>
            <a:picLocks noChangeAspect="1"/>
          </p:cNvPicPr>
          <p:nvPr/>
        </p:nvPicPr>
        <p:blipFill>
          <a:blip r:embed="rId2"/>
          <a:stretch>
            <a:fillRect/>
          </a:stretch>
        </p:blipFill>
        <p:spPr>
          <a:xfrm>
            <a:off x="2824480" y="1417320"/>
            <a:ext cx="6543039" cy="4206240"/>
          </a:xfrm>
          <a:prstGeom prst="rect">
            <a:avLst/>
          </a:prstGeom>
        </p:spPr>
      </p:pic>
      <p:sp>
        <p:nvSpPr>
          <p:cNvPr id="32" name="TextBox 31"/>
          <p:cNvSpPr txBox="1"/>
          <p:nvPr/>
        </p:nvSpPr>
        <p:spPr>
          <a:xfrm>
            <a:off x="548640" y="5760720"/>
            <a:ext cx="11094720" cy="822960"/>
          </a:xfrm>
          <a:prstGeom prst="rect">
            <a:avLst/>
          </a:prstGeom>
          <a:noFill/>
        </p:spPr>
        <p:txBody>
          <a:bodyPr wrap="square">
            <a:spAutoFit/>
          </a:bodyPr>
          <a:lstStyle/>
          <a:p>
            <a:pPr algn="ctr"/>
            <a:r>
              <a:rPr sz="1400" i="1">
                <a:solidFill>
                  <a:srgbClr val="333333"/>
                </a:solidFill>
              </a:rPr>
              <a:t>Kharif has the highest disease/pest risk (54.5%) due to high rainfall &amp; humidity; Zaid has the lowest (38.2%).</a:t>
            </a:r>
            <a:endParaRPr sz="1400" i="1">
              <a:solidFill>
                <a:srgbClr val="333333"/>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805497" y="630304"/>
            <a:ext cx="4735798" cy="830997"/>
          </a:xfrm>
        </p:spPr>
        <p:txBody>
          <a:bodyPr>
            <a:normAutofit/>
          </a:bodyPr>
          <a:lstStyle/>
          <a:p>
            <a:r>
              <a:rPr lang="en-IN" sz="4000" dirty="0"/>
              <a:t>Future scope</a:t>
            </a:r>
            <a:endParaRPr lang="en-IN" sz="4000"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640080" y="1920240"/>
            <a:ext cx="10058400" cy="3657600"/>
          </a:xfrm>
          <a:prstGeom prst="rect">
            <a:avLst/>
          </a:prstGeom>
          <a:noFill/>
        </p:spPr>
        <p:txBody>
          <a:bodyPr wrap="square">
            <a:spAutoFit/>
          </a:bodyPr>
          <a:lstStyle/>
          <a:p>
            <a:pPr>
              <a:spcAft>
                <a:spcPts val="1400"/>
              </a:spcAft>
            </a:pPr>
            <a:r>
              <a:rPr sz="1800"/>
              <a:t>•  Incorporate multi-year data to study year-over-year seasonal trends, not just a single cycle.</a:t>
            </a:r>
            <a:endParaRPr sz="1800"/>
          </a:p>
          <a:p>
            <a:pPr>
              <a:spcAft>
                <a:spcPts val="1400"/>
              </a:spcAft>
            </a:pPr>
            <a:r>
              <a:rPr sz="1800"/>
              <a:t>•  Build a predictive model (e.g. regression) to forecast yield or profit based on season, irrigation method, and weather inputs.</a:t>
            </a:r>
            <a:endParaRPr sz="1800"/>
          </a:p>
          <a:p>
            <a:pPr>
              <a:spcAft>
                <a:spcPts val="1400"/>
              </a:spcAft>
            </a:pPr>
            <a:r>
              <a:rPr sz="1800"/>
              <a:t>•  Add region/state-level drill-down dashboards for state-specific seasonal recommendations.</a:t>
            </a:r>
            <a:endParaRPr sz="1800"/>
          </a:p>
          <a:p>
            <a:pPr>
              <a:spcAft>
                <a:spcPts val="1400"/>
              </a:spcAft>
            </a:pPr>
            <a:r>
              <a:rPr sz="1800"/>
              <a:t>•  Integrate real-time weather and market price feeds for dynamic, up-to-date seasonal planning.</a:t>
            </a:r>
            <a:endParaRPr sz="1800"/>
          </a:p>
          <a:p>
            <a:pPr>
              <a:spcAft>
                <a:spcPts val="1400"/>
              </a:spcAft>
            </a:pPr>
            <a:r>
              <a:rPr sz="1800"/>
              <a:t>•  Extend the analysis to recommend an optimal crop + irrigation combination for each season and region.</a:t>
            </a:r>
            <a:endParaRPr sz="18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4735798" cy="830997"/>
          </a:xfrm>
        </p:spPr>
        <p:txBody>
          <a:bodyPr>
            <a:normAutofit/>
          </a:bodyPr>
          <a:lstStyle/>
          <a:p>
            <a:r>
              <a:rPr lang="en-IN" sz="4000" dirty="0"/>
              <a:t>GitHub Link</a:t>
            </a:r>
            <a:endParaRPr lang="en-IN" sz="4000"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p:cNvSpPr txBox="1"/>
          <p:nvPr/>
        </p:nvSpPr>
        <p:spPr>
          <a:xfrm>
            <a:off x="729256" y="1440320"/>
            <a:ext cx="7232875" cy="645160"/>
          </a:xfrm>
          <a:prstGeom prst="rect">
            <a:avLst/>
          </a:prstGeom>
          <a:noFill/>
        </p:spPr>
        <p:txBody>
          <a:bodyPr wrap="square">
            <a:spAutoFit/>
          </a:bodyPr>
          <a:lstStyle/>
          <a:p>
            <a:r>
              <a:rPr lang="en-US" altLang="en-US" dirty="0">
                <a:gradFill>
                  <a:gsLst>
                    <a:gs pos="50000">
                      <a:schemeClr val="tx1"/>
                    </a:gs>
                    <a:gs pos="0">
                      <a:schemeClr val="tx1">
                        <a:lumMod val="25000"/>
                        <a:lumOff val="75000"/>
                      </a:schemeClr>
                    </a:gs>
                    <a:gs pos="100000">
                      <a:schemeClr val="tx1">
                        <a:lumMod val="85000"/>
                      </a:schemeClr>
                    </a:gs>
                  </a:gsLst>
                  <a:lin ang="5400000" scaled="1"/>
                </a:gradFill>
                <a:hlinkClick r:id="rId2" tooltip="" action="ppaction://hlinksldjump"/>
              </a:rPr>
              <a:t>https://github.com/ZohraSayyed08/Seasonal-Agriculture-Performance-Analysis</a:t>
            </a:r>
            <a:endParaRPr lang="en-US" altLang="en-US" dirty="0">
              <a:gradFill>
                <a:gsLst>
                  <a:gs pos="50000">
                    <a:schemeClr val="tx1"/>
                  </a:gs>
                  <a:gs pos="0">
                    <a:schemeClr val="tx1">
                      <a:lumMod val="25000"/>
                      <a:lumOff val="75000"/>
                    </a:schemeClr>
                  </a:gs>
                  <a:gs pos="100000">
                    <a:schemeClr val="tx1">
                      <a:lumMod val="85000"/>
                    </a:schemeClr>
                  </a:gs>
                </a:gsLst>
                <a:lin ang="5400000" scaled="1"/>
              </a:gradFill>
              <a:hlinkClick r:id="rId2" tooltip="" action="ppaction://hlinksldjum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endParaRPr lang="en-IN" sz="3200"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2"/>
          <a:stretch>
            <a:fillRect/>
          </a:stretch>
        </p:blipFill>
        <p:spPr>
          <a:xfrm>
            <a:off x="1435735" y="1651635"/>
            <a:ext cx="7038975" cy="44234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endParaRPr lang="en-US" sz="4800" b="1" dirty="0">
              <a:solidFill>
                <a:schemeClr val="tx1"/>
              </a:solidFill>
            </a:endParaRPr>
          </a:p>
        </p:txBody>
      </p:sp>
      <p:sp>
        <p:nvSpPr>
          <p:cNvPr id="31" name="Text Placeholder 30"/>
          <p:cNvSpPr>
            <a:spLocks noGrp="1"/>
          </p:cNvSpPr>
          <p:nvPr>
            <p:ph type="body" sz="quarter" idx="13"/>
          </p:nvPr>
        </p:nvSpPr>
        <p:spPr>
          <a:xfrm>
            <a:off x="3727865" y="4641925"/>
            <a:ext cx="2139695" cy="1108635"/>
          </a:xfrm>
        </p:spPr>
        <p:txBody>
          <a:bodyPr>
            <a:normAutofit/>
          </a:bodyPr>
          <a:lstStyle/>
          <a:p>
            <a:r>
              <a:rPr lang="en-US" dirty="0"/>
              <a:t>.</a:t>
            </a:r>
            <a:endParaRPr lang="en-US" dirty="0"/>
          </a:p>
        </p:txBody>
      </p:sp>
      <p:sp>
        <p:nvSpPr>
          <p:cNvPr id="17" name="Text Placeholder 28"/>
          <p:cNvSpPr txBox="1"/>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p:cNvSpPr txBox="1"/>
          <p:nvPr/>
        </p:nvSpPr>
        <p:spPr>
          <a:xfrm>
            <a:off x="533826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p:cNvSpPr txBox="1"/>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p:cNvSpPr txBox="1"/>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p:cNvSpPr txBox="1"/>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r>
              <a:rPr lang="en-GB" dirty="0"/>
              <a:t>.</a:t>
            </a:r>
            <a:endParaRPr lang="en-GB" dirty="0"/>
          </a:p>
        </p:txBody>
      </p:sp>
      <p:pic>
        <p:nvPicPr>
          <p:cNvPr id="15" name="Picture 14"/>
          <p:cNvPicPr>
            <a:picLocks noChangeAspect="1"/>
          </p:cNvPicPr>
          <p:nvPr/>
        </p:nvPicPr>
        <p:blipFill rotWithShape="1">
          <a:blip r:embed="rId1"/>
          <a:srcRect t="96181"/>
          <a:stretch>
            <a:fillRect/>
          </a:stretch>
        </p:blipFill>
        <p:spPr>
          <a:xfrm>
            <a:off x="675957" y="6471920"/>
            <a:ext cx="2143125" cy="19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datastoreItem>
</file>

<file path=customXml/itemProps2.xml><?xml version="1.0" encoding="utf-8"?>
<ds:datastoreItem xmlns:ds="http://schemas.openxmlformats.org/officeDocument/2006/customXml" ds:itemID="{4DEA9014-ED64-4558-B1E1-D03F0EE32BEB}">
  <ds:schemaRefs/>
</ds:datastoreItem>
</file>

<file path=customXml/itemProps3.xml><?xml version="1.0" encoding="utf-8"?>
<ds:datastoreItem xmlns:ds="http://schemas.openxmlformats.org/officeDocument/2006/customXml" ds:itemID="{05D99ABA-76CE-4A8E-B5F0-C051B96628DE}">
  <ds:schemaRefs/>
</ds:datastoreItem>
</file>

<file path=docProps/app.xml><?xml version="1.0" encoding="utf-8"?>
<Properties xmlns="http://schemas.openxmlformats.org/officeDocument/2006/extended-properties" xmlns:vt="http://schemas.openxmlformats.org/officeDocument/2006/docPropsVTypes">
  <Template>Facet</Template>
  <TotalTime>0</TotalTime>
  <Words>3504</Words>
  <Application>WPS Presentation</Application>
  <PresentationFormat>Widescreen</PresentationFormat>
  <Paragraphs>71</Paragraphs>
  <Slides>14</Slides>
  <Notes>1</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14</vt:i4>
      </vt:variant>
    </vt:vector>
  </HeadingPairs>
  <TitlesOfParts>
    <vt:vector size="24" baseType="lpstr">
      <vt:lpstr>Arial</vt:lpstr>
      <vt:lpstr>SimSun</vt:lpstr>
      <vt:lpstr>Wingdings</vt:lpstr>
      <vt:lpstr>Wingdings 3</vt:lpstr>
      <vt:lpstr>Arial</vt:lpstr>
      <vt:lpstr>Calibri</vt:lpstr>
      <vt:lpstr>Trebuchet MS</vt:lpstr>
      <vt:lpstr>Microsoft YaHei</vt:lpstr>
      <vt:lpstr>Arial Unicode MS</vt:lpstr>
      <vt:lpstr>Facet</vt:lpstr>
      <vt:lpstr>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Zohra Sayyed</cp:lastModifiedBy>
  <cp:revision>102</cp:revision>
  <dcterms:created xsi:type="dcterms:W3CDTF">2021-07-11T13:13:00Z</dcterms:created>
  <dcterms:modified xsi:type="dcterms:W3CDTF">2026-09-08T16:09:09Z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KSOProductBuildVer">
    <vt:lpwstr>1033-12.1.0.28032</vt:lpwstr>
  </property>
  <property fmtid="{D5CDD505-2E9C-101B-9397-08002B2CF9AE}" pid="4" name="ICV">
    <vt:lpwstr>283DAAF4E00742ADBACD252362AB1169_13</vt:lpwstr>
  </property>
</Properties>
</file>