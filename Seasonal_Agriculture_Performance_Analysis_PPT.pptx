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8"/>
  </p:handoutMasterIdLst>
  <p:sldIdLst>
    <p:sldId id="338" r:id="rId3"/>
    <p:sldId id="327" r:id="rId4"/>
    <p:sldId id="315" r:id="rId5"/>
    <p:sldId id="329" r:id="rId6"/>
    <p:sldId id="302" r:id="rId7"/>
    <p:sldId id="339" r:id="rId9"/>
    <p:sldId id="340" r:id="rId10"/>
    <p:sldId id="344" r:id="rId11"/>
    <p:sldId id="345"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26"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68"/>
        <p:guide pos="426"/>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8.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9.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0.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1.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2247900" y="3945255"/>
            <a:ext cx="2863215" cy="530225"/>
          </a:xfrm>
        </p:spPr>
        <p:txBody>
          <a:bodyPr vert="horz" lIns="91440" tIns="45720" rIns="91440" bIns="45720" rtlCol="0" anchor="t">
            <a:normAutofit/>
          </a:bodyPr>
          <a:lstStyle/>
          <a:p>
            <a:pPr algn="r"/>
            <a:r>
              <a:rPr lang="en-US" altLang="en-IN" b="0" dirty="0">
                <a:solidFill>
                  <a:schemeClr val="tx1"/>
                </a:solidFill>
              </a:rPr>
              <a:t>Zohra Sayyed Abed Ali </a:t>
            </a:r>
            <a:endParaRPr lang="en-US" altLang="en-IN" b="0" dirty="0">
              <a:solidFill>
                <a:schemeClr val="tx1"/>
              </a:solidFill>
            </a:endParaRPr>
          </a:p>
          <a:p>
            <a:pPr algn="r"/>
            <a:endParaRPr lang="en-US" altLang="en-IN" b="0" dirty="0">
              <a:solidFill>
                <a:schemeClr val="tx1"/>
              </a:solidFill>
            </a:endParaRPr>
          </a:p>
        </p:txBody>
      </p:sp>
      <p:sp>
        <p:nvSpPr>
          <p:cNvPr id="4" name="Title 3"/>
          <p:cNvSpPr>
            <a:spLocks noGrp="1"/>
          </p:cNvSpPr>
          <p:nvPr>
            <p:ph type="title"/>
          </p:nvPr>
        </p:nvSpPr>
        <p:spPr>
          <a:xfrm>
            <a:off x="678364" y="2844750"/>
            <a:ext cx="4998720" cy="743448"/>
          </a:xfrm>
        </p:spPr>
        <p:txBody>
          <a:bodyPr>
            <a:normAutofit/>
          </a:bodyPr>
          <a:lstStyle/>
          <a:p>
            <a:r>
              <a:rPr lang="en-GB" sz="3200" dirty="0"/>
              <a:t>Seasonal Agriculture Performance Analysis</a:t>
            </a:r>
            <a:endParaRPr lang="en-IN" sz="3200" dirty="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3" name="TextBox 2"/>
          <p:cNvSpPr txBox="1"/>
          <p:nvPr/>
        </p:nvSpPr>
        <p:spPr>
          <a:xfrm>
            <a:off x="957580" y="4576445"/>
            <a:ext cx="5443855" cy="368300"/>
          </a:xfrm>
          <a:prstGeom prst="rect">
            <a:avLst/>
          </a:prstGeom>
          <a:noFill/>
        </p:spPr>
        <p:txBody>
          <a:bodyPr wrap="square" rtlCol="0">
            <a:spAutoFit/>
          </a:bodyPr>
          <a:lstStyle/>
          <a:p>
            <a:r>
              <a:rPr lang="en-US" altLang="en-US" b="1" dirty="0"/>
              <a:t>ID: STU6949018513bee1766392197</a:t>
            </a:r>
            <a:endParaRPr lang="en-US"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084580" y="728980"/>
            <a:ext cx="6262370" cy="589915"/>
          </a:xfrm>
        </p:spPr>
        <p:txBody>
          <a:bodyPr>
            <a:normAutofit fontScale="90000"/>
          </a:bodyPr>
          <a:lstStyle/>
          <a:p>
            <a:r>
              <a:rPr lang="en-GB" sz="5335" dirty="0"/>
              <a:t>Project Description</a:t>
            </a:r>
            <a:br>
              <a:rPr lang="en-GB" sz="5335" dirty="0"/>
            </a:br>
            <a:endParaRPr lang="en-IN" sz="5335" b="0"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2" name="Text Box 1"/>
          <p:cNvSpPr txBox="1"/>
          <p:nvPr/>
        </p:nvSpPr>
        <p:spPr>
          <a:xfrm>
            <a:off x="674370" y="1993265"/>
            <a:ext cx="7774305" cy="3658235"/>
          </a:xfrm>
          <a:prstGeom prst="rect">
            <a:avLst/>
          </a:prstGeom>
          <a:noFill/>
        </p:spPr>
        <p:txBody>
          <a:bodyPr wrap="square" lIns="269875" tIns="136525" rIns="269875" bIns="136525" rtlCol="0">
            <a:spAutoFit/>
          </a:bodyPr>
          <a:p>
            <a:pPr algn="l"/>
            <a:r>
              <a:rPr lang="en-GB" sz="2000" dirty="0">
                <a:sym typeface="+mn-ea"/>
              </a:rPr>
              <a:t>This project analyzes a seasonal agriculture performance dataset of 4,000 farm records across Kharif, Rabi, and Zaid seasons in India. Using Python (Pandas, Matplotlib, Seaborn), the dataset was cleaned, explored, and analyzed through univariate, bivariate, and multivariate techniques to uncover how rainfall, irrigation method, and other environmental factors influence crop yield, profitability, and disease/pest risk across seasons. The goal is to identify actionable, evidence-based seasonal patterns that can support better agricultural planning and decision-making.</a:t>
            </a:r>
            <a:br>
              <a:rPr lang="en-GB" sz="2000" dirty="0">
                <a:sym typeface="+mn-ea"/>
              </a:rPr>
            </a:b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59" y="1991360"/>
            <a:ext cx="7904481" cy="3990023"/>
          </a:xfrm>
        </p:spPr>
        <p:txBody>
          <a:bodyPr>
            <a:normAutofit/>
          </a:bodyPr>
          <a:lstStyle/>
          <a:p>
            <a:pPr algn="just">
              <a:lnSpc>
                <a:spcPct val="150000"/>
              </a:lnSpc>
            </a:pPr>
            <a:r>
              <a:rPr sz="2000"/>
              <a:t>Farmers &amp; Agricultural Cooperatives — to plan crop and irrigation choices season-wise</a:t>
            </a:r>
            <a:endParaRPr lang="en-IN" sz="3600" dirty="0"/>
          </a:p>
          <a:p>
            <a:r>
              <a:rPr sz="2000"/>
              <a:t>Agricultural Policy Makers — to design seasonally-targeted support and subsidy programs</a:t>
            </a:r>
            <a:endParaRPr sz="2000"/>
          </a:p>
          <a:p>
            <a:r>
              <a:rPr sz="2000"/>
              <a:t>Agri-Finance &amp; Insurance Providers — to assess seasonal risk before lending or insuring</a:t>
            </a:r>
            <a:endParaRPr sz="2000"/>
          </a:p>
          <a:p>
            <a:r>
              <a:rPr sz="2000"/>
              <a:t>Agricultural Researchers &amp; Universities — to study seasonal crop performance patterns</a:t>
            </a:r>
            <a:endParaRPr sz="2000"/>
          </a:p>
          <a:p>
            <a:r>
              <a:rPr sz="2000"/>
              <a:t>Irrigation Equipment Suppliers — to recommend the right irrigation method per season</a:t>
            </a:r>
            <a:endParaRPr sz="2000"/>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390618" y="1432560"/>
            <a:ext cx="9027702" cy="5243448"/>
          </a:xfrm>
        </p:spPr>
        <p:txBody>
          <a:bodyPr/>
          <a:lstStyle/>
          <a:p>
            <a:pPr>
              <a:lnSpc>
                <a:spcPct val="150000"/>
              </a:lnSpc>
            </a:pPr>
            <a:r>
              <a:rPr sz="2000"/>
              <a:t>Python — core programming language for the analysis</a:t>
            </a:r>
            <a:endParaRPr lang="en-IN" dirty="0"/>
          </a:p>
          <a:p>
            <a:r>
              <a:rPr sz="2000"/>
              <a:t>Pandas &amp; NumPy — data loading, cleaning, and manipulation</a:t>
            </a:r>
            <a:endParaRPr sz="2000"/>
          </a:p>
          <a:p>
            <a:r>
              <a:rPr sz="2000"/>
              <a:t>Matplotlib &amp; Seaborn — data visualization (bar charts, histograms, heatmaps, scatter plots, box plots)</a:t>
            </a:r>
            <a:endParaRPr sz="2000"/>
          </a:p>
          <a:p>
            <a:r>
              <a:rPr sz="2000"/>
              <a:t>Jupyter Notebook / Google Colab — development environment for the analysis</a:t>
            </a:r>
            <a:endParaRPr sz="2000"/>
          </a:p>
          <a:p>
            <a:r>
              <a:rPr sz="2000"/>
              <a:t>GitHub — version control and project submission</a:t>
            </a:r>
            <a:endParaRPr sz="2000"/>
          </a:p>
        </p:txBody>
      </p:sp>
      <p:sp>
        <p:nvSpPr>
          <p:cNvPr id="9" name="Title 8"/>
          <p:cNvSpPr>
            <a:spLocks noGrp="1"/>
          </p:cNvSpPr>
          <p:nvPr>
            <p:ph type="title"/>
          </p:nvPr>
        </p:nvSpPr>
        <p:spPr>
          <a:xfrm>
            <a:off x="660399" y="430567"/>
            <a:ext cx="5306291" cy="847817"/>
          </a:xfrm>
        </p:spPr>
        <p:txBody>
          <a:bodyPr>
            <a:normAutofit/>
          </a:bodyPr>
          <a:lstStyle/>
          <a:p>
            <a:r>
              <a:rPr lang="en-US" dirty="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1_yield_by_season.png"/>
          <p:cNvPicPr>
            <a:picLocks noChangeAspect="1"/>
          </p:cNvPicPr>
          <p:nvPr/>
        </p:nvPicPr>
        <p:blipFill>
          <a:blip r:embed="rId2"/>
          <a:stretch>
            <a:fillRect/>
          </a:stretch>
        </p:blipFill>
        <p:spPr>
          <a:xfrm>
            <a:off x="2824480" y="1417320"/>
            <a:ext cx="6543039" cy="4206240"/>
          </a:xfrm>
          <a:prstGeom prst="rect">
            <a:avLst/>
          </a:prstGeom>
        </p:spPr>
      </p:pic>
      <p:sp>
        <p:nvSpPr>
          <p:cNvPr id="25" name="TextBox 24"/>
          <p:cNvSpPr txBox="1"/>
          <p:nvPr/>
        </p:nvSpPr>
        <p:spPr>
          <a:xfrm>
            <a:off x="548640" y="5760720"/>
            <a:ext cx="11094720" cy="822960"/>
          </a:xfrm>
          <a:prstGeom prst="rect">
            <a:avLst/>
          </a:prstGeom>
          <a:noFill/>
        </p:spPr>
        <p:txBody>
          <a:bodyPr wrap="square">
            <a:spAutoFit/>
          </a:bodyPr>
          <a:lstStyle/>
          <a:p>
            <a:pPr algn="ctr"/>
            <a:r>
              <a:rPr sz="1400" i="1">
                <a:solidFill>
                  <a:srgbClr val="333333"/>
                </a:solidFill>
              </a:rPr>
              <a:t>Kharif delivers the highest average yield (5.63 t/ha), followed by Rabi (5.04 t/ha) and Zaid (4.64 t/ha).</a:t>
            </a:r>
            <a:endParaRPr sz="1400" i="1">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2_rainfall_profit_by_season.png"/>
          <p:cNvPicPr>
            <a:picLocks noChangeAspect="1"/>
          </p:cNvPicPr>
          <p:nvPr/>
        </p:nvPicPr>
        <p:blipFill>
          <a:blip r:embed="rId2"/>
          <a:stretch>
            <a:fillRect/>
          </a:stretch>
        </p:blipFill>
        <p:spPr>
          <a:xfrm>
            <a:off x="2758440" y="1417320"/>
            <a:ext cx="6675120" cy="3003804"/>
          </a:xfrm>
          <a:prstGeom prst="rect">
            <a:avLst/>
          </a:prstGeom>
        </p:spPr>
      </p:pic>
      <p:sp>
        <p:nvSpPr>
          <p:cNvPr id="32" name="TextBox 31"/>
          <p:cNvSpPr txBox="1"/>
          <p:nvPr/>
        </p:nvSpPr>
        <p:spPr>
          <a:xfrm>
            <a:off x="548640" y="4558284"/>
            <a:ext cx="11094720" cy="822960"/>
          </a:xfrm>
          <a:prstGeom prst="rect">
            <a:avLst/>
          </a:prstGeom>
          <a:noFill/>
        </p:spPr>
        <p:txBody>
          <a:bodyPr wrap="square">
            <a:spAutoFit/>
          </a:bodyPr>
          <a:lstStyle/>
          <a:p>
            <a:pPr algn="ctr"/>
            <a:r>
              <a:rPr sz="1400" i="1">
                <a:solidFill>
                  <a:srgbClr val="333333"/>
                </a:solidFill>
              </a:rPr>
              <a:t>Kharif is the most profitable season (avg profit ₹1.79 lakh/farm); Zaid runs an average LOSS of ₹24,805/farm, with 64.5% of Zaid farms unprofitable.</a:t>
            </a:r>
            <a:endParaRPr sz="1400" i="1">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3_correlation_heatmap.png"/>
          <p:cNvPicPr>
            <a:picLocks noChangeAspect="1"/>
          </p:cNvPicPr>
          <p:nvPr/>
        </p:nvPicPr>
        <p:blipFill>
          <a:blip r:embed="rId2"/>
          <a:stretch>
            <a:fillRect/>
          </a:stretch>
        </p:blipFill>
        <p:spPr>
          <a:xfrm>
            <a:off x="3507545" y="1417320"/>
            <a:ext cx="5176910" cy="4206240"/>
          </a:xfrm>
          <a:prstGeom prst="rect">
            <a:avLst/>
          </a:prstGeom>
        </p:spPr>
      </p:pic>
      <p:sp>
        <p:nvSpPr>
          <p:cNvPr id="32" name="TextBox 31"/>
          <p:cNvSpPr txBox="1"/>
          <p:nvPr/>
        </p:nvSpPr>
        <p:spPr>
          <a:xfrm>
            <a:off x="548640" y="5760720"/>
            <a:ext cx="11094720" cy="822960"/>
          </a:xfrm>
          <a:prstGeom prst="rect">
            <a:avLst/>
          </a:prstGeom>
          <a:noFill/>
        </p:spPr>
        <p:txBody>
          <a:bodyPr wrap="square">
            <a:spAutoFit/>
          </a:bodyPr>
          <a:lstStyle/>
          <a:p>
            <a:pPr algn="ctr"/>
            <a:r>
              <a:rPr sz="1400" i="1">
                <a:solidFill>
                  <a:srgbClr val="333333"/>
                </a:solidFill>
              </a:rPr>
              <a:t>Rainfall correlates strongly with Disease/Pest Risk (r=0.62), while Yield is nearly independent of Rainfall (r=0.03) — irrigation matters more than rain.</a:t>
            </a:r>
            <a:endParaRPr sz="1400" i="1">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4_yield_by_season_irrigation.png"/>
          <p:cNvPicPr>
            <a:picLocks noChangeAspect="1"/>
          </p:cNvPicPr>
          <p:nvPr/>
        </p:nvPicPr>
        <p:blipFill>
          <a:blip r:embed="rId2"/>
          <a:stretch>
            <a:fillRect/>
          </a:stretch>
        </p:blipFill>
        <p:spPr>
          <a:xfrm>
            <a:off x="2758440" y="1417320"/>
            <a:ext cx="6675120" cy="3754755"/>
          </a:xfrm>
          <a:prstGeom prst="rect">
            <a:avLst/>
          </a:prstGeom>
        </p:spPr>
      </p:pic>
      <p:sp>
        <p:nvSpPr>
          <p:cNvPr id="32" name="TextBox 31"/>
          <p:cNvSpPr txBox="1"/>
          <p:nvPr/>
        </p:nvSpPr>
        <p:spPr>
          <a:xfrm>
            <a:off x="548640" y="5309235"/>
            <a:ext cx="11094720" cy="822960"/>
          </a:xfrm>
          <a:prstGeom prst="rect">
            <a:avLst/>
          </a:prstGeom>
          <a:noFill/>
        </p:spPr>
        <p:txBody>
          <a:bodyPr wrap="square">
            <a:spAutoFit/>
          </a:bodyPr>
          <a:lstStyle/>
          <a:p>
            <a:pPr algn="ctr"/>
            <a:r>
              <a:rPr sz="1400" i="1">
                <a:solidFill>
                  <a:srgbClr val="333333"/>
                </a:solidFill>
              </a:rPr>
              <a:t>Drip irrigation performs best in Kharif &amp; Rabi, but Sprinkler irrigation outperforms it in the hot, low-rainfall Zaid season.</a:t>
            </a:r>
            <a:endParaRPr sz="1400" i="1">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5_disease_risk_by_season.png"/>
          <p:cNvPicPr>
            <a:picLocks noChangeAspect="1"/>
          </p:cNvPicPr>
          <p:nvPr/>
        </p:nvPicPr>
        <p:blipFill>
          <a:blip r:embed="rId2"/>
          <a:stretch>
            <a:fillRect/>
          </a:stretch>
        </p:blipFill>
        <p:spPr>
          <a:xfrm>
            <a:off x="2824480" y="1417320"/>
            <a:ext cx="6543039" cy="4206240"/>
          </a:xfrm>
          <a:prstGeom prst="rect">
            <a:avLst/>
          </a:prstGeom>
        </p:spPr>
      </p:pic>
      <p:sp>
        <p:nvSpPr>
          <p:cNvPr id="32" name="TextBox 31"/>
          <p:cNvSpPr txBox="1"/>
          <p:nvPr/>
        </p:nvSpPr>
        <p:spPr>
          <a:xfrm>
            <a:off x="548640" y="5760720"/>
            <a:ext cx="11094720" cy="822960"/>
          </a:xfrm>
          <a:prstGeom prst="rect">
            <a:avLst/>
          </a:prstGeom>
          <a:noFill/>
        </p:spPr>
        <p:txBody>
          <a:bodyPr wrap="square">
            <a:spAutoFit/>
          </a:bodyPr>
          <a:lstStyle/>
          <a:p>
            <a:pPr algn="ctr"/>
            <a:r>
              <a:rPr sz="1400" i="1">
                <a:solidFill>
                  <a:srgbClr val="333333"/>
                </a:solidFill>
              </a:rPr>
              <a:t>Kharif has the highest disease/pest risk (54.5%) due to high rainfall &amp; humidity; Zaid has the lowest (38.2%).</a:t>
            </a:r>
            <a:endParaRPr sz="1400" i="1">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805497" y="630304"/>
            <a:ext cx="4735798" cy="830997"/>
          </a:xfrm>
        </p:spPr>
        <p:txBody>
          <a:bodyPr>
            <a:normAutofit/>
          </a:bodyPr>
          <a:lstStyle/>
          <a:p>
            <a:r>
              <a:rPr lang="en-IN" sz="4000" dirty="0"/>
              <a:t>Future scope</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40080" y="1920240"/>
            <a:ext cx="10058400" cy="3657600"/>
          </a:xfrm>
          <a:prstGeom prst="rect">
            <a:avLst/>
          </a:prstGeom>
          <a:noFill/>
        </p:spPr>
        <p:txBody>
          <a:bodyPr wrap="square">
            <a:spAutoFit/>
          </a:bodyPr>
          <a:lstStyle/>
          <a:p>
            <a:pPr>
              <a:spcAft>
                <a:spcPts val="1400"/>
              </a:spcAft>
            </a:pPr>
            <a:r>
              <a:rPr sz="1800"/>
              <a:t>•  Incorporate multi-year data to study year-over-year seasonal trends, not just a single cycle.</a:t>
            </a:r>
            <a:endParaRPr sz="1800"/>
          </a:p>
          <a:p>
            <a:pPr>
              <a:spcAft>
                <a:spcPts val="1400"/>
              </a:spcAft>
            </a:pPr>
            <a:r>
              <a:rPr sz="1800"/>
              <a:t>•  Build a predictive model (e.g. regression) to forecast yield or profit based on season, irrigation method, and weather inputs.</a:t>
            </a:r>
            <a:endParaRPr sz="1800"/>
          </a:p>
          <a:p>
            <a:pPr>
              <a:spcAft>
                <a:spcPts val="1400"/>
              </a:spcAft>
            </a:pPr>
            <a:r>
              <a:rPr sz="1800"/>
              <a:t>•  Add region/state-level drill-down dashboards for state-specific seasonal recommendations.</a:t>
            </a:r>
            <a:endParaRPr sz="1800"/>
          </a:p>
          <a:p>
            <a:pPr>
              <a:spcAft>
                <a:spcPts val="1400"/>
              </a:spcAft>
            </a:pPr>
            <a:r>
              <a:rPr sz="1800"/>
              <a:t>•  Integrate real-time weather and market price feeds for dynamic, up-to-date seasonal planning.</a:t>
            </a:r>
            <a:endParaRPr sz="1800"/>
          </a:p>
          <a:p>
            <a:pPr>
              <a:spcAft>
                <a:spcPts val="1400"/>
              </a:spcAft>
            </a:pPr>
            <a:r>
              <a:rPr sz="1800"/>
              <a:t>•  Extend the analysis to recommend an optimal crop + irrigation combination for each season and region.</a:t>
            </a:r>
            <a:endParaRPr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GitHub Link</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729256" y="1440320"/>
            <a:ext cx="7232875" cy="646331"/>
          </a:xfrm>
          <a:prstGeom prst="rect">
            <a:avLst/>
          </a:prstGeom>
          <a:noFill/>
        </p:spPr>
        <p:txBody>
          <a:bodyPr wrap="square">
            <a:spAutoFit/>
          </a:bodyPr>
          <a:lstStyle/>
          <a:p>
            <a:r>
              <a:rPr lang="en-US" dirty="0"/>
              <a:t>https://github.com/YOUR-GITHUB-USERNAME/Seasonal-Agriculture-Performance-Analysis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endParaRPr lang="en-IN" sz="32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2"/>
          <a:stretch>
            <a:fillRect/>
          </a:stretch>
        </p:blipFill>
        <p:spPr>
          <a:xfrm>
            <a:off x="1435735" y="1651635"/>
            <a:ext cx="7038975" cy="44234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endParaRPr lang="en-US" sz="48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12" name="Text Placeholder 11"/>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05D99ABA-76CE-4A8E-B5F0-C051B96628DE}">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3512</Words>
  <Application>WPS Presentation</Application>
  <PresentationFormat>Widescreen</PresentationFormat>
  <Paragraphs>71</Paragraphs>
  <Slides>14</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Wingdings 3</vt:lpstr>
      <vt:lpstr>Arial</vt:lpstr>
      <vt:lpstr>Calibri</vt:lpstr>
      <vt:lpstr>Trebuchet MS</vt:lpstr>
      <vt:lpstr>Microsoft YaHei</vt:lpstr>
      <vt:lpstr>Arial Unicode MS</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Zohra Sayyed</cp:lastModifiedBy>
  <cp:revision>100</cp:revision>
  <dcterms:created xsi:type="dcterms:W3CDTF">2021-07-11T13:13:00Z</dcterms:created>
  <dcterms:modified xsi:type="dcterms:W3CDTF">2026-09-08T14:53:39Z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1033-12.1.0.28032</vt:lpwstr>
  </property>
  <property fmtid="{D5CDD505-2E9C-101B-9397-08002B2CF9AE}" pid="4" name="ICV">
    <vt:lpwstr>283DAAF4E00742ADBACD252362AB1169_13</vt:lpwstr>
  </property>
</Properties>
</file>